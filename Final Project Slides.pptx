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5"/>
    <p:sldMasterId id="214748370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Arimo"/>
      <p:regular r:id="rId22"/>
      <p:bold r:id="rId23"/>
      <p:italic r:id="rId24"/>
      <p:boldItalic r:id="rId25"/>
    </p:embeddedFont>
    <p:embeddedFont>
      <p:font typeface="Arimo SemiBold"/>
      <p:regular r:id="rId26"/>
      <p:bold r:id="rId27"/>
      <p:italic r:id="rId28"/>
      <p:boldItalic r:id="rId29"/>
    </p:embeddedFont>
    <p:embeddedFont>
      <p:font typeface="Azeret Mono"/>
      <p:regular r:id="rId30"/>
      <p:bold r:id="rId31"/>
      <p:italic r:id="rId32"/>
      <p:boldItalic r:id="rId33"/>
    </p:embeddedFont>
    <p:embeddedFont>
      <p:font typeface="Arimo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deline Schermerhorn"/>
  <p:cmAuthor clrIdx="1" id="1" initials="" lastIdx="1" name="Riley Goet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Arimo-regular.fntdata"/><Relationship Id="rId21" Type="http://schemas.openxmlformats.org/officeDocument/2006/relationships/slide" Target="slides/slide14.xml"/><Relationship Id="rId24" Type="http://schemas.openxmlformats.org/officeDocument/2006/relationships/font" Target="fonts/Arimo-italic.fntdata"/><Relationship Id="rId23" Type="http://schemas.openxmlformats.org/officeDocument/2006/relationships/font" Target="fonts/Arim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ArimoSemiBold-regular.fntdata"/><Relationship Id="rId25" Type="http://schemas.openxmlformats.org/officeDocument/2006/relationships/font" Target="fonts/Arimo-boldItalic.fntdata"/><Relationship Id="rId28" Type="http://schemas.openxmlformats.org/officeDocument/2006/relationships/font" Target="fonts/ArimoSemiBold-italic.fntdata"/><Relationship Id="rId27" Type="http://schemas.openxmlformats.org/officeDocument/2006/relationships/font" Target="fonts/Arimo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rimoSemiBold-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zeretMono-bold.fntdata"/><Relationship Id="rId30" Type="http://schemas.openxmlformats.org/officeDocument/2006/relationships/font" Target="fonts/AzeretMono-regular.fntdata"/><Relationship Id="rId11" Type="http://schemas.openxmlformats.org/officeDocument/2006/relationships/slide" Target="slides/slide4.xml"/><Relationship Id="rId33" Type="http://schemas.openxmlformats.org/officeDocument/2006/relationships/font" Target="fonts/AzeretMono-boldItalic.fntdata"/><Relationship Id="rId10" Type="http://schemas.openxmlformats.org/officeDocument/2006/relationships/slide" Target="slides/slide3.xml"/><Relationship Id="rId32" Type="http://schemas.openxmlformats.org/officeDocument/2006/relationships/font" Target="fonts/AzeretMono-italic.fntdata"/><Relationship Id="rId13" Type="http://schemas.openxmlformats.org/officeDocument/2006/relationships/slide" Target="slides/slide6.xml"/><Relationship Id="rId35" Type="http://schemas.openxmlformats.org/officeDocument/2006/relationships/font" Target="fonts/ArimoMedium-bold.fntdata"/><Relationship Id="rId12" Type="http://schemas.openxmlformats.org/officeDocument/2006/relationships/slide" Target="slides/slide5.xml"/><Relationship Id="rId34" Type="http://schemas.openxmlformats.org/officeDocument/2006/relationships/font" Target="fonts/ArimoMedium-regular.fntdata"/><Relationship Id="rId15" Type="http://schemas.openxmlformats.org/officeDocument/2006/relationships/slide" Target="slides/slide8.xml"/><Relationship Id="rId37" Type="http://schemas.openxmlformats.org/officeDocument/2006/relationships/font" Target="fonts/ArimoMedium-boldItalic.fntdata"/><Relationship Id="rId14" Type="http://schemas.openxmlformats.org/officeDocument/2006/relationships/slide" Target="slides/slide7.xml"/><Relationship Id="rId36" Type="http://schemas.openxmlformats.org/officeDocument/2006/relationships/font" Target="fonts/ArimoMedium-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4T12:05:32.501">
    <p:pos x="6000" y="0"/>
    <p:text>we have Q2–Q5 in the slides rn but i’m happy to take out Q2 if it feels like too much, but i think Q4 and Q5 work well together and also connect directly into the recommendation, so it kind of still fits the 2–3 analysis idea.</p:text>
  </p:cm>
  <p:cm authorId="1" idx="1" dt="2026-04-24T12:05:32.501">
    <p:pos x="6000" y="0"/>
    <p:text>i also added Q1. not sure if we want to keep it but i dont mind either way. its the demand surge identification slide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8510047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8510047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878257b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878257b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878257bd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878257bd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9edddd79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9edddd79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9edddd79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d9edddd79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878257bde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878257bde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86c37e7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86c37e7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878257b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d878257b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878257bd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d878257bd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878257bde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d878257bde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878257bd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878257bd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85100474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85100474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874df1d1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d874df1d1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878257bde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d878257bde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1.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3.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DS 2002</a:t>
            </a:r>
            <a:endParaRPr/>
          </a:p>
        </p:txBody>
      </p:sp>
      <p:sp>
        <p:nvSpPr>
          <p:cNvPr id="398" name="Google Shape;398;p56"/>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04/30/2026</a:t>
            </a:r>
            <a:endParaRPr/>
          </a:p>
        </p:txBody>
      </p:sp>
      <p:sp>
        <p:nvSpPr>
          <p:cNvPr id="399" name="Google Shape;399;p56"/>
          <p:cNvSpPr txBox="1"/>
          <p:nvPr>
            <p:ph type="title"/>
          </p:nvPr>
        </p:nvSpPr>
        <p:spPr>
          <a:xfrm>
            <a:off x="805650" y="2507738"/>
            <a:ext cx="57423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DS 2002 </a:t>
            </a:r>
            <a:endParaRPr/>
          </a:p>
          <a:p>
            <a:pPr indent="0" lvl="0" marL="0" rtl="0" algn="l">
              <a:spcBef>
                <a:spcPts val="0"/>
              </a:spcBef>
              <a:spcAft>
                <a:spcPts val="0"/>
              </a:spcAft>
              <a:buNone/>
            </a:pPr>
            <a:r>
              <a:rPr lang="en"/>
              <a:t>Capstone Project</a:t>
            </a:r>
            <a:endParaRPr/>
          </a:p>
        </p:txBody>
      </p:sp>
      <p:sp>
        <p:nvSpPr>
          <p:cNvPr id="400" name="Google Shape;400;p56"/>
          <p:cNvSpPr txBox="1"/>
          <p:nvPr/>
        </p:nvSpPr>
        <p:spPr>
          <a:xfrm>
            <a:off x="821004" y="4044275"/>
            <a:ext cx="5859300" cy="45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800">
                <a:solidFill>
                  <a:srgbClr val="3C4043"/>
                </a:solidFill>
                <a:latin typeface="Azeret Mono"/>
                <a:ea typeface="Azeret Mono"/>
                <a:cs typeface="Azeret Mono"/>
                <a:sym typeface="Azeret Mono"/>
              </a:rPr>
              <a:t>Kendall Freese, Riley Goetz, Maddie Schermerhorn, Sibel Bulut</a:t>
            </a:r>
            <a:endParaRPr sz="800">
              <a:solidFill>
                <a:srgbClr val="3C4043"/>
              </a:solidFill>
              <a:latin typeface="Azeret Mono"/>
              <a:ea typeface="Azeret Mono"/>
              <a:cs typeface="Azeret Mono"/>
              <a:sym typeface="Azeret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type="title"/>
          </p:nvPr>
        </p:nvSpPr>
        <p:spPr>
          <a:xfrm>
            <a:off x="277500" y="55650"/>
            <a:ext cx="8589000" cy="6111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Pipeline</a:t>
            </a:r>
            <a:endParaRPr/>
          </a:p>
        </p:txBody>
      </p:sp>
      <p:sp>
        <p:nvSpPr>
          <p:cNvPr id="406" name="Google Shape;406;p57"/>
          <p:cNvSpPr txBox="1"/>
          <p:nvPr>
            <p:ph idx="2" type="subTitle"/>
          </p:nvPr>
        </p:nvSpPr>
        <p:spPr>
          <a:xfrm>
            <a:off x="277500" y="6667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Cloud + API Integration</a:t>
            </a:r>
            <a:endParaRPr sz="1200"/>
          </a:p>
        </p:txBody>
      </p:sp>
      <p:sp>
        <p:nvSpPr>
          <p:cNvPr id="407" name="Google Shape;407;p57"/>
          <p:cNvSpPr txBox="1"/>
          <p:nvPr/>
        </p:nvSpPr>
        <p:spPr>
          <a:xfrm>
            <a:off x="160175" y="916325"/>
            <a:ext cx="6138900" cy="3382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Authenticated with Google Cloud Storage (GCS)</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Loaded raw data from cloud bucket</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Integrated external weather API (Open-Metro)</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Merged weather data with charging sessions + demand data</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a:solidFill>
                  <a:schemeClr val="dk1"/>
                </a:solidFill>
                <a:latin typeface="Arimo"/>
                <a:ea typeface="Arimo"/>
                <a:cs typeface="Arimo"/>
                <a:sym typeface="Arimo"/>
              </a:rPr>
              <a:t>Saved final cleaned dataset to SQLite + GCS</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0" lvl="0" marL="0" rtl="0" algn="l">
              <a:spcBef>
                <a:spcPts val="0"/>
              </a:spcBef>
              <a:spcAft>
                <a:spcPts val="0"/>
              </a:spcAft>
              <a:buNone/>
            </a:pPr>
            <a:r>
              <a:rPr lang="en" sz="1200">
                <a:solidFill>
                  <a:schemeClr val="dk1"/>
                </a:solidFill>
                <a:latin typeface="Arimo"/>
                <a:ea typeface="Arimo"/>
                <a:cs typeface="Arimo"/>
                <a:sym typeface="Arimo"/>
              </a:rPr>
              <a:t>GCS → Data Cleaning → Weather API → Merge → Final Dataset → Upload to GCS</a:t>
            </a:r>
            <a:endParaRPr sz="1200">
              <a:solidFill>
                <a:schemeClr val="dk1"/>
              </a:solidFill>
              <a:latin typeface="Arimo"/>
              <a:ea typeface="Arimo"/>
              <a:cs typeface="Arimo"/>
              <a:sym typeface="Arimo"/>
            </a:endParaRPr>
          </a:p>
        </p:txBody>
      </p:sp>
      <p:pic>
        <p:nvPicPr>
          <p:cNvPr id="408" name="Google Shape;408;p57" title="Screenshot 2026-04-22 at 11.10.08 AM.png"/>
          <p:cNvPicPr preferRelativeResize="0"/>
          <p:nvPr/>
        </p:nvPicPr>
        <p:blipFill>
          <a:blip r:embed="rId3">
            <a:alphaModFix/>
          </a:blip>
          <a:stretch>
            <a:fillRect/>
          </a:stretch>
        </p:blipFill>
        <p:spPr>
          <a:xfrm>
            <a:off x="2185650" y="2443350"/>
            <a:ext cx="6011473" cy="2524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Cleaning</a:t>
            </a:r>
            <a:endParaRPr/>
          </a:p>
        </p:txBody>
      </p:sp>
      <p:sp>
        <p:nvSpPr>
          <p:cNvPr id="414" name="Google Shape;414;p58"/>
          <p:cNvSpPr txBox="1"/>
          <p:nvPr/>
        </p:nvSpPr>
        <p:spPr>
          <a:xfrm>
            <a:off x="128100" y="1154050"/>
            <a:ext cx="4317900" cy="37059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2 Cleaning D</a:t>
            </a:r>
            <a:r>
              <a:rPr lang="en" sz="1200" u="sng">
                <a:solidFill>
                  <a:schemeClr val="dk1"/>
                </a:solidFill>
                <a:latin typeface="Arimo"/>
                <a:ea typeface="Arimo"/>
                <a:cs typeface="Arimo"/>
                <a:sym typeface="Arimo"/>
              </a:rPr>
              <a:t>ecisions</a:t>
            </a:r>
            <a:r>
              <a:rPr lang="en" sz="1200" u="sng">
                <a:solidFill>
                  <a:schemeClr val="dk1"/>
                </a:solidFill>
                <a:latin typeface="Arimo"/>
                <a:ea typeface="Arimo"/>
                <a:cs typeface="Arimo"/>
                <a:sym typeface="Arimo"/>
              </a:rPr>
              <a:t>:</a:t>
            </a:r>
            <a:r>
              <a:rPr lang="en" sz="1200">
                <a:solidFill>
                  <a:schemeClr val="dk1"/>
                </a:solidFill>
                <a:latin typeface="Arimo"/>
                <a:ea typeface="Arimo"/>
                <a:cs typeface="Arimo"/>
                <a:sym typeface="Arimo"/>
              </a:rPr>
              <a:t> Mixed datetime formats and </a:t>
            </a:r>
            <a:r>
              <a:rPr lang="en" sz="1200">
                <a:solidFill>
                  <a:schemeClr val="dk1"/>
                </a:solidFill>
                <a:latin typeface="Arimo"/>
                <a:ea typeface="Arimo"/>
                <a:cs typeface="Arimo"/>
                <a:sym typeface="Arimo"/>
              </a:rPr>
              <a:t>Inconsistent station ID formatting</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General data quality issues:</a:t>
            </a:r>
            <a:r>
              <a:rPr lang="en" sz="1200">
                <a:solidFill>
                  <a:schemeClr val="dk1"/>
                </a:solidFill>
                <a:latin typeface="Arimo"/>
                <a:ea typeface="Arimo"/>
                <a:cs typeface="Arimo"/>
                <a:sym typeface="Arimo"/>
              </a:rPr>
              <a:t> inconsistent formatting, fragmented identifiers, duplicate records, invalid values, categorical inconsistencies, missing data</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Data cleaning changes:</a:t>
            </a:r>
            <a:r>
              <a:rPr lang="en" sz="1200">
                <a:solidFill>
                  <a:schemeClr val="dk1"/>
                </a:solidFill>
                <a:latin typeface="Arimo"/>
                <a:ea typeface="Arimo"/>
                <a:cs typeface="Arimo"/>
                <a:sym typeface="Arimo"/>
              </a:rPr>
              <a:t> removed duplicate records, standardized datetime formats, normalized text fields, standardized IDs into consistent formatting, fixed inconsistent categorical values, converted numeric fields into proper data types, handled missing values, removed invalid values, ensured reliable joining across tables</a:t>
            </a:r>
            <a:endParaRPr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General trade-off:</a:t>
            </a:r>
            <a:r>
              <a:rPr lang="en" sz="1200">
                <a:solidFill>
                  <a:schemeClr val="dk1"/>
                </a:solidFill>
                <a:latin typeface="Arimo"/>
                <a:ea typeface="Arimo"/>
                <a:cs typeface="Arimo"/>
                <a:sym typeface="Arimo"/>
              </a:rPr>
              <a:t> Data Retention v. Strict Consistency</a:t>
            </a:r>
            <a:endParaRPr sz="1200">
              <a:solidFill>
                <a:schemeClr val="dk1"/>
              </a:solidFill>
              <a:latin typeface="Arimo"/>
              <a:ea typeface="Arimo"/>
              <a:cs typeface="Arimo"/>
              <a:sym typeface="Arimo"/>
            </a:endParaRPr>
          </a:p>
        </p:txBody>
      </p:sp>
      <p:pic>
        <p:nvPicPr>
          <p:cNvPr id="415" name="Google Shape;415;p58" title="Screenshot 2026-04-29 at 11.30.39 AM.png"/>
          <p:cNvPicPr preferRelativeResize="0"/>
          <p:nvPr/>
        </p:nvPicPr>
        <p:blipFill>
          <a:blip r:embed="rId3">
            <a:alphaModFix/>
          </a:blip>
          <a:stretch>
            <a:fillRect/>
          </a:stretch>
        </p:blipFill>
        <p:spPr>
          <a:xfrm>
            <a:off x="4446000" y="1258100"/>
            <a:ext cx="4575926" cy="26272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Cleaning</a:t>
            </a:r>
            <a:endParaRPr/>
          </a:p>
        </p:txBody>
      </p:sp>
      <p:sp>
        <p:nvSpPr>
          <p:cNvPr id="421" name="Google Shape;421;p59"/>
          <p:cNvSpPr txBox="1"/>
          <p:nvPr/>
        </p:nvSpPr>
        <p:spPr>
          <a:xfrm>
            <a:off x="201000" y="1142200"/>
            <a:ext cx="4371000" cy="312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M</a:t>
            </a:r>
            <a:r>
              <a:rPr b="1" lang="en" sz="1200">
                <a:solidFill>
                  <a:schemeClr val="dk1"/>
                </a:solidFill>
                <a:latin typeface="Arimo"/>
                <a:ea typeface="Arimo"/>
                <a:cs typeface="Arimo"/>
                <a:sym typeface="Arimo"/>
              </a:rPr>
              <a:t>ixed Datetime Formats</a:t>
            </a:r>
            <a:endParaRPr b="1" sz="1200">
              <a:solidFill>
                <a:schemeClr val="dk1"/>
              </a:solidFill>
              <a:latin typeface="Arimo"/>
              <a:ea typeface="Arimo"/>
              <a:cs typeface="Arimo"/>
              <a:sym typeface="Arimo"/>
            </a:endParaRPr>
          </a:p>
          <a:p>
            <a:pPr indent="0" lvl="0" marL="0" rtl="0" algn="ctr">
              <a:spcBef>
                <a:spcPts val="0"/>
              </a:spcBef>
              <a:spcAft>
                <a:spcPts val="0"/>
              </a:spcAft>
              <a:buNone/>
            </a:pPr>
            <a:r>
              <a:t/>
            </a:r>
            <a:endParaRPr b="1"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Before:</a:t>
            </a:r>
            <a:r>
              <a:rPr lang="en" sz="1200">
                <a:solidFill>
                  <a:schemeClr val="dk1"/>
                </a:solidFill>
                <a:latin typeface="Arimo"/>
                <a:ea typeface="Arimo"/>
                <a:cs typeface="Arimo"/>
                <a:sym typeface="Arimo"/>
              </a:rPr>
              <a:t> </a:t>
            </a:r>
            <a:r>
              <a:rPr lang="en" sz="1200">
                <a:solidFill>
                  <a:schemeClr val="lt1"/>
                </a:solidFill>
                <a:latin typeface="Arimo"/>
                <a:ea typeface="Arimo"/>
                <a:cs typeface="Arimo"/>
                <a:sym typeface="Arimo"/>
              </a:rPr>
              <a:t>session_start and session_end had multiple inconsistent formats </a:t>
            </a:r>
            <a:r>
              <a:rPr lang="en" sz="1200">
                <a:solidFill>
                  <a:schemeClr val="dk1"/>
                </a:solidFill>
                <a:latin typeface="Arimo"/>
                <a:ea typeface="Arimo"/>
                <a:cs typeface="Arimo"/>
                <a:sym typeface="Arimo"/>
              </a:rPr>
              <a:t>→</a:t>
            </a:r>
            <a:r>
              <a:rPr lang="en" sz="1200">
                <a:solidFill>
                  <a:schemeClr val="lt1"/>
                </a:solidFill>
                <a:latin typeface="Arimo"/>
                <a:ea typeface="Arimo"/>
                <a:cs typeface="Arimo"/>
                <a:sym typeface="Arimo"/>
              </a:rPr>
              <a:t> </a:t>
            </a:r>
            <a:r>
              <a:rPr lang="en" sz="1100">
                <a:solidFill>
                  <a:srgbClr val="FF0000"/>
                </a:solidFill>
                <a:latin typeface="Arimo"/>
                <a:ea typeface="Arimo"/>
                <a:cs typeface="Arimo"/>
                <a:sym typeface="Arimo"/>
              </a:rPr>
              <a:t>2025-03-16 17:06:25, 10-19-2025 17:10:08, 12/30/2025 07:30, 2025/08/06 11:54</a:t>
            </a:r>
            <a:endParaRPr sz="1200">
              <a:solidFill>
                <a:srgbClr val="FF0000"/>
              </a:solidFill>
              <a:latin typeface="Arimo"/>
              <a:ea typeface="Arimo"/>
              <a:cs typeface="Arimo"/>
              <a:sym typeface="Arimo"/>
            </a:endParaRPr>
          </a:p>
          <a:p>
            <a:pPr indent="-304800" lvl="0" marL="457200" rtl="0" algn="l">
              <a:lnSpc>
                <a:spcPct val="115000"/>
              </a:lnSpc>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D</a:t>
            </a:r>
            <a:r>
              <a:rPr lang="en" sz="1200" u="sng">
                <a:solidFill>
                  <a:schemeClr val="dk1"/>
                </a:solidFill>
                <a:latin typeface="Arimo"/>
                <a:ea typeface="Arimo"/>
                <a:cs typeface="Arimo"/>
                <a:sym typeface="Arimo"/>
              </a:rPr>
              <a:t>ecision:</a:t>
            </a:r>
            <a:r>
              <a:rPr lang="en" sz="1200">
                <a:solidFill>
                  <a:schemeClr val="dk1"/>
                </a:solidFill>
                <a:latin typeface="Arimo"/>
                <a:ea typeface="Arimo"/>
                <a:cs typeface="Arimo"/>
                <a:sym typeface="Arimo"/>
              </a:rPr>
              <a:t> Implemented a mixed-format datetime parser to standardize timestamps into consistent format →</a:t>
            </a:r>
            <a:r>
              <a:rPr lang="en" sz="1200">
                <a:solidFill>
                  <a:srgbClr val="6AA84F"/>
                </a:solidFill>
                <a:latin typeface="Arimo"/>
                <a:ea typeface="Arimo"/>
                <a:cs typeface="Arimo"/>
                <a:sym typeface="Arimo"/>
              </a:rPr>
              <a:t>YYYY-MM-DD HH:MM:SS</a:t>
            </a:r>
            <a:endParaRPr sz="1200">
              <a:solidFill>
                <a:srgbClr val="6AA84F"/>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After:</a:t>
            </a:r>
            <a:r>
              <a:rPr lang="en" sz="1200">
                <a:solidFill>
                  <a:schemeClr val="lt1"/>
                </a:solidFill>
                <a:latin typeface="Arimo"/>
                <a:ea typeface="Arimo"/>
                <a:cs typeface="Arimo"/>
                <a:sym typeface="Arimo"/>
              </a:rPr>
              <a:t> all timestamp data was preserved and converted into consistent formatting</a:t>
            </a:r>
            <a:endParaRPr sz="1200">
              <a:solidFill>
                <a:schemeClr val="lt1"/>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Impact:</a:t>
            </a:r>
            <a:r>
              <a:rPr lang="en" sz="1200">
                <a:solidFill>
                  <a:schemeClr val="lt1"/>
                </a:solidFill>
                <a:latin typeface="Arimo"/>
                <a:ea typeface="Arimo"/>
                <a:cs typeface="Arimo"/>
                <a:sym typeface="Arimo"/>
              </a:rPr>
              <a:t> Created intreptable datetime data to aid in analysis and discover key relationships</a:t>
            </a:r>
            <a:endParaRPr sz="1200">
              <a:solidFill>
                <a:schemeClr val="lt1"/>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Trade-off:</a:t>
            </a:r>
            <a:r>
              <a:rPr lang="en" sz="1200">
                <a:solidFill>
                  <a:schemeClr val="lt1"/>
                </a:solidFill>
                <a:latin typeface="Arimo"/>
                <a:ea typeface="Arimo"/>
                <a:cs typeface="Arimo"/>
                <a:sym typeface="Arimo"/>
              </a:rPr>
              <a:t> data retention &amp; consistent formatting with small risk of incorrectly interprtting date formats</a:t>
            </a:r>
            <a:endParaRPr sz="1200">
              <a:solidFill>
                <a:schemeClr val="lt1"/>
              </a:solidFill>
              <a:latin typeface="Arimo"/>
              <a:ea typeface="Arimo"/>
              <a:cs typeface="Arimo"/>
              <a:sym typeface="Arimo"/>
            </a:endParaRPr>
          </a:p>
        </p:txBody>
      </p:sp>
      <p:pic>
        <p:nvPicPr>
          <p:cNvPr id="422" name="Google Shape;422;p59" title="Screenshot 2026-04-29 at 10.57.38 AM.png"/>
          <p:cNvPicPr preferRelativeResize="0"/>
          <p:nvPr/>
        </p:nvPicPr>
        <p:blipFill>
          <a:blip r:embed="rId3">
            <a:alphaModFix/>
          </a:blip>
          <a:stretch>
            <a:fillRect/>
          </a:stretch>
        </p:blipFill>
        <p:spPr>
          <a:xfrm>
            <a:off x="4572000" y="507950"/>
            <a:ext cx="1933875" cy="4338776"/>
          </a:xfrm>
          <a:prstGeom prst="rect">
            <a:avLst/>
          </a:prstGeom>
          <a:noFill/>
          <a:ln>
            <a:noFill/>
          </a:ln>
        </p:spPr>
      </p:pic>
      <p:pic>
        <p:nvPicPr>
          <p:cNvPr id="423" name="Google Shape;423;p59" title="Screenshot 2026-04-29 at 11.05.45 AM.png"/>
          <p:cNvPicPr preferRelativeResize="0"/>
          <p:nvPr/>
        </p:nvPicPr>
        <p:blipFill>
          <a:blip r:embed="rId4">
            <a:alphaModFix/>
          </a:blip>
          <a:stretch>
            <a:fillRect/>
          </a:stretch>
        </p:blipFill>
        <p:spPr>
          <a:xfrm>
            <a:off x="7050999" y="513237"/>
            <a:ext cx="1933875" cy="4380625"/>
          </a:xfrm>
          <a:prstGeom prst="rect">
            <a:avLst/>
          </a:prstGeom>
          <a:noFill/>
          <a:ln>
            <a:noFill/>
          </a:ln>
        </p:spPr>
      </p:pic>
      <p:sp>
        <p:nvSpPr>
          <p:cNvPr id="424" name="Google Shape;424;p59"/>
          <p:cNvSpPr/>
          <p:nvPr/>
        </p:nvSpPr>
        <p:spPr>
          <a:xfrm>
            <a:off x="6595875" y="2537650"/>
            <a:ext cx="365100" cy="2007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Cleaning</a:t>
            </a:r>
            <a:endParaRPr/>
          </a:p>
        </p:txBody>
      </p:sp>
      <p:sp>
        <p:nvSpPr>
          <p:cNvPr id="430" name="Google Shape;430;p60"/>
          <p:cNvSpPr txBox="1"/>
          <p:nvPr/>
        </p:nvSpPr>
        <p:spPr>
          <a:xfrm>
            <a:off x="360475" y="1056002"/>
            <a:ext cx="4310400" cy="365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rimo"/>
                <a:ea typeface="Arimo"/>
                <a:cs typeface="Arimo"/>
                <a:sym typeface="Arimo"/>
              </a:rPr>
              <a:t>Inconsistent Station ID Formatting</a:t>
            </a:r>
            <a:endParaRPr b="1" sz="1200">
              <a:solidFill>
                <a:schemeClr val="dk1"/>
              </a:solidFill>
              <a:latin typeface="Arimo"/>
              <a:ea typeface="Arimo"/>
              <a:cs typeface="Arimo"/>
              <a:sym typeface="Arimo"/>
            </a:endParaRPr>
          </a:p>
          <a:p>
            <a:pPr indent="0" lvl="0" marL="0" rtl="0" algn="l">
              <a:spcBef>
                <a:spcPts val="0"/>
              </a:spcBef>
              <a:spcAft>
                <a:spcPts val="0"/>
              </a:spcAft>
              <a:buNone/>
            </a:pPr>
            <a:r>
              <a:t/>
            </a:r>
            <a:endParaRPr b="1" sz="1200">
              <a:solidFill>
                <a:schemeClr val="dk1"/>
              </a:solidFill>
              <a:latin typeface="Arimo"/>
              <a:ea typeface="Arimo"/>
              <a:cs typeface="Arimo"/>
              <a:sym typeface="Arimo"/>
            </a:endParaRPr>
          </a:p>
          <a:p>
            <a:pPr indent="-304800" lvl="0" marL="457200" rtl="0" algn="l">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Before: </a:t>
            </a:r>
            <a:r>
              <a:rPr lang="en" sz="1200">
                <a:solidFill>
                  <a:schemeClr val="lt1"/>
                </a:solidFill>
                <a:latin typeface="Arimo"/>
                <a:ea typeface="Arimo"/>
                <a:cs typeface="Arimo"/>
                <a:sym typeface="Arimo"/>
              </a:rPr>
              <a:t>station IDs appeared in inconsistent formats </a:t>
            </a:r>
            <a:r>
              <a:rPr lang="en" sz="1200">
                <a:solidFill>
                  <a:schemeClr val="dk1"/>
                </a:solidFill>
                <a:latin typeface="Arimo"/>
                <a:ea typeface="Arimo"/>
                <a:cs typeface="Arimo"/>
                <a:sym typeface="Arimo"/>
              </a:rPr>
              <a:t>→</a:t>
            </a:r>
            <a:r>
              <a:rPr lang="en" sz="1200">
                <a:solidFill>
                  <a:schemeClr val="lt1"/>
                </a:solidFill>
                <a:latin typeface="Arimo"/>
                <a:ea typeface="Arimo"/>
                <a:cs typeface="Arimo"/>
                <a:sym typeface="Arimo"/>
              </a:rPr>
              <a:t> </a:t>
            </a:r>
            <a:r>
              <a:rPr lang="en" sz="1100">
                <a:solidFill>
                  <a:srgbClr val="FF0000"/>
                </a:solidFill>
                <a:latin typeface="Arimo"/>
                <a:ea typeface="Arimo"/>
                <a:cs typeface="Arimo"/>
                <a:sym typeface="Arimo"/>
              </a:rPr>
              <a:t>STN16, STN5, STN016</a:t>
            </a:r>
            <a:endParaRPr sz="1200">
              <a:solidFill>
                <a:srgbClr val="FF0000"/>
              </a:solidFill>
              <a:latin typeface="Arimo"/>
              <a:ea typeface="Arimo"/>
              <a:cs typeface="Arimo"/>
              <a:sym typeface="Arimo"/>
            </a:endParaRPr>
          </a:p>
          <a:p>
            <a:pPr indent="-304800" lvl="0" marL="457200" rtl="0" algn="l">
              <a:lnSpc>
                <a:spcPct val="115000"/>
              </a:lnSpc>
              <a:spcBef>
                <a:spcPts val="0"/>
              </a:spcBef>
              <a:spcAft>
                <a:spcPts val="0"/>
              </a:spcAft>
              <a:buClr>
                <a:schemeClr val="dk1"/>
              </a:buClr>
              <a:buSzPts val="1200"/>
              <a:buFont typeface="Arimo"/>
              <a:buChar char="-"/>
            </a:pPr>
            <a:r>
              <a:rPr lang="en" sz="1200" u="sng">
                <a:solidFill>
                  <a:schemeClr val="dk1"/>
                </a:solidFill>
                <a:latin typeface="Arimo"/>
                <a:ea typeface="Arimo"/>
                <a:cs typeface="Arimo"/>
                <a:sym typeface="Arimo"/>
              </a:rPr>
              <a:t>Decision:</a:t>
            </a:r>
            <a:r>
              <a:rPr lang="en" sz="1200">
                <a:solidFill>
                  <a:schemeClr val="dk1"/>
                </a:solidFill>
                <a:latin typeface="Arimo"/>
                <a:ea typeface="Arimo"/>
                <a:cs typeface="Arimo"/>
                <a:sym typeface="Arimo"/>
              </a:rPr>
              <a:t> Standardized all station IDs to a fixed format </a:t>
            </a:r>
            <a:r>
              <a:rPr lang="en" sz="1200">
                <a:solidFill>
                  <a:srgbClr val="6AA84F"/>
                </a:solidFill>
                <a:latin typeface="Arimo"/>
                <a:ea typeface="Arimo"/>
                <a:cs typeface="Arimo"/>
                <a:sym typeface="Arimo"/>
              </a:rPr>
              <a:t>STN###  </a:t>
            </a:r>
            <a:r>
              <a:rPr lang="en" sz="1200">
                <a:solidFill>
                  <a:schemeClr val="dk1"/>
                </a:solidFill>
                <a:latin typeface="Arimo"/>
                <a:ea typeface="Arimo"/>
                <a:cs typeface="Arimo"/>
                <a:sym typeface="Arimo"/>
              </a:rPr>
              <a:t>→ </a:t>
            </a:r>
            <a:r>
              <a:rPr lang="en" sz="1100">
                <a:solidFill>
                  <a:srgbClr val="FF0000"/>
                </a:solidFill>
                <a:latin typeface="Arimo"/>
                <a:ea typeface="Arimo"/>
                <a:cs typeface="Arimo"/>
                <a:sym typeface="Arimo"/>
              </a:rPr>
              <a:t>STN16 </a:t>
            </a:r>
            <a:r>
              <a:rPr lang="en" sz="1100">
                <a:solidFill>
                  <a:schemeClr val="lt1"/>
                </a:solidFill>
                <a:latin typeface="Arimo"/>
                <a:ea typeface="Arimo"/>
                <a:cs typeface="Arimo"/>
                <a:sym typeface="Arimo"/>
              </a:rPr>
              <a:t>to </a:t>
            </a:r>
            <a:r>
              <a:rPr lang="en" sz="1200">
                <a:solidFill>
                  <a:srgbClr val="6AA84F"/>
                </a:solidFill>
                <a:latin typeface="Arimo"/>
                <a:ea typeface="Arimo"/>
                <a:cs typeface="Arimo"/>
                <a:sym typeface="Arimo"/>
              </a:rPr>
              <a:t>STN016</a:t>
            </a:r>
            <a:endParaRPr sz="1200">
              <a:solidFill>
                <a:schemeClr val="lt1"/>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After:</a:t>
            </a:r>
            <a:r>
              <a:rPr lang="en" sz="1200">
                <a:solidFill>
                  <a:schemeClr val="lt1"/>
                </a:solidFill>
                <a:latin typeface="Arimo"/>
                <a:ea typeface="Arimo"/>
                <a:cs typeface="Arimo"/>
                <a:sym typeface="Arimo"/>
              </a:rPr>
              <a:t> All station IDs follow a consistent format</a:t>
            </a:r>
            <a:endParaRPr sz="1200">
              <a:solidFill>
                <a:schemeClr val="lt1"/>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Impact:</a:t>
            </a:r>
            <a:r>
              <a:rPr lang="en" sz="1200">
                <a:solidFill>
                  <a:schemeClr val="lt1"/>
                </a:solidFill>
                <a:latin typeface="Arimo"/>
                <a:ea typeface="Arimo"/>
                <a:cs typeface="Arimo"/>
                <a:sym typeface="Arimo"/>
              </a:rPr>
              <a:t> Reliable joins across dataset and prevents risk of mismatching values</a:t>
            </a:r>
            <a:endParaRPr sz="1200">
              <a:solidFill>
                <a:schemeClr val="lt1"/>
              </a:solidFill>
              <a:latin typeface="Arimo"/>
              <a:ea typeface="Arimo"/>
              <a:cs typeface="Arimo"/>
              <a:sym typeface="Arimo"/>
            </a:endParaRPr>
          </a:p>
          <a:p>
            <a:pPr indent="-304800" lvl="0" marL="457200" rtl="0" algn="l">
              <a:lnSpc>
                <a:spcPct val="115000"/>
              </a:lnSpc>
              <a:spcBef>
                <a:spcPts val="0"/>
              </a:spcBef>
              <a:spcAft>
                <a:spcPts val="0"/>
              </a:spcAft>
              <a:buClr>
                <a:schemeClr val="lt1"/>
              </a:buClr>
              <a:buSzPts val="1200"/>
              <a:buFont typeface="Arimo"/>
              <a:buChar char="-"/>
            </a:pPr>
            <a:r>
              <a:rPr lang="en" sz="1200" u="sng">
                <a:solidFill>
                  <a:schemeClr val="lt1"/>
                </a:solidFill>
                <a:latin typeface="Arimo"/>
                <a:ea typeface="Arimo"/>
                <a:cs typeface="Arimo"/>
                <a:sym typeface="Arimo"/>
              </a:rPr>
              <a:t>Trade-off:</a:t>
            </a:r>
            <a:r>
              <a:rPr lang="en" sz="1200">
                <a:solidFill>
                  <a:schemeClr val="lt1"/>
                </a:solidFill>
                <a:latin typeface="Arimo"/>
                <a:ea typeface="Arimo"/>
                <a:cs typeface="Arimo"/>
                <a:sym typeface="Arimo"/>
              </a:rPr>
              <a:t> Consistency prioritzed to ensure accurate joining but follows assumption that station IDs follow the same naming conventions</a:t>
            </a:r>
            <a:endParaRPr sz="1200">
              <a:solidFill>
                <a:schemeClr val="lt1"/>
              </a:solidFill>
              <a:latin typeface="Arimo"/>
              <a:ea typeface="Arimo"/>
              <a:cs typeface="Arimo"/>
              <a:sym typeface="Arimo"/>
            </a:endParaRPr>
          </a:p>
        </p:txBody>
      </p:sp>
      <p:pic>
        <p:nvPicPr>
          <p:cNvPr id="431" name="Google Shape;431;p60" title="Screenshot 2026-04-29 at 11.07.26 AM.png"/>
          <p:cNvPicPr preferRelativeResize="0"/>
          <p:nvPr/>
        </p:nvPicPr>
        <p:blipFill>
          <a:blip r:embed="rId3">
            <a:alphaModFix/>
          </a:blip>
          <a:stretch>
            <a:fillRect/>
          </a:stretch>
        </p:blipFill>
        <p:spPr>
          <a:xfrm>
            <a:off x="5805351" y="710213"/>
            <a:ext cx="834825" cy="4247875"/>
          </a:xfrm>
          <a:prstGeom prst="rect">
            <a:avLst/>
          </a:prstGeom>
          <a:noFill/>
          <a:ln>
            <a:noFill/>
          </a:ln>
        </p:spPr>
      </p:pic>
      <p:pic>
        <p:nvPicPr>
          <p:cNvPr id="432" name="Google Shape;432;p60" title="Screenshot 2026-04-29 at 11.07.40 AM.png"/>
          <p:cNvPicPr preferRelativeResize="0"/>
          <p:nvPr/>
        </p:nvPicPr>
        <p:blipFill>
          <a:blip r:embed="rId4">
            <a:alphaModFix/>
          </a:blip>
          <a:stretch>
            <a:fillRect/>
          </a:stretch>
        </p:blipFill>
        <p:spPr>
          <a:xfrm>
            <a:off x="7558925" y="710225"/>
            <a:ext cx="834825" cy="4342861"/>
          </a:xfrm>
          <a:prstGeom prst="rect">
            <a:avLst/>
          </a:prstGeom>
          <a:noFill/>
          <a:ln>
            <a:noFill/>
          </a:ln>
        </p:spPr>
      </p:pic>
      <p:sp>
        <p:nvSpPr>
          <p:cNvPr id="433" name="Google Shape;433;p60"/>
          <p:cNvSpPr/>
          <p:nvPr/>
        </p:nvSpPr>
        <p:spPr>
          <a:xfrm>
            <a:off x="6828209" y="2537650"/>
            <a:ext cx="365100" cy="2007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ctr">
              <a:spcBef>
                <a:spcPts val="0"/>
              </a:spcBef>
              <a:spcAft>
                <a:spcPts val="0"/>
              </a:spcAft>
              <a:buNone/>
            </a:pPr>
            <a:r>
              <a:rPr lang="en"/>
              <a:t>Analysis: </a:t>
            </a:r>
            <a:endParaRPr/>
          </a:p>
          <a:p>
            <a:pPr indent="0" lvl="0" marL="0" rtl="0" algn="ctr">
              <a:spcBef>
                <a:spcPts val="0"/>
              </a:spcBef>
              <a:spcAft>
                <a:spcPts val="0"/>
              </a:spcAft>
              <a:buNone/>
            </a:pPr>
            <a:r>
              <a:rPr lang="en"/>
              <a:t>Charging Demand, Weather, and Connector </a:t>
            </a:r>
            <a:r>
              <a:rPr lang="en"/>
              <a:t>Types</a:t>
            </a:r>
            <a:r>
              <a:rPr lang="en"/>
              <a:t> </a:t>
            </a:r>
            <a:endParaRPr/>
          </a:p>
        </p:txBody>
      </p:sp>
      <p:sp>
        <p:nvSpPr>
          <p:cNvPr id="439" name="Google Shape;439;p61"/>
          <p:cNvSpPr txBox="1"/>
          <p:nvPr/>
        </p:nvSpPr>
        <p:spPr>
          <a:xfrm>
            <a:off x="340238" y="1971450"/>
            <a:ext cx="8589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Arimo"/>
                <a:ea typeface="Arimo"/>
                <a:cs typeface="Arimo"/>
                <a:sym typeface="Arimo"/>
              </a:rPr>
              <a:t>We analyzed EV charging data to understand usage patterns, external factors, and infrastructure needs. </a:t>
            </a:r>
            <a:endParaRPr sz="2200">
              <a:solidFill>
                <a:schemeClr val="dk1"/>
              </a:solidFill>
              <a:latin typeface="Arimo"/>
              <a:ea typeface="Arimo"/>
              <a:cs typeface="Arimo"/>
              <a:sym typeface="Arimo"/>
            </a:endParaRPr>
          </a:p>
          <a:p>
            <a:pPr indent="0" lvl="0" marL="0" rtl="0" algn="l">
              <a:spcBef>
                <a:spcPts val="0"/>
              </a:spcBef>
              <a:spcAft>
                <a:spcPts val="0"/>
              </a:spcAft>
              <a:buNone/>
            </a:pPr>
            <a:r>
              <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Q1: Demand surge identification</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Q2: Vehicle consolidation and true charging usage</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Q3: Weather effects on charging demand and grid load</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Q5: Connector type trends and recommendation </a:t>
            </a:r>
            <a:endParaRPr sz="2200">
              <a:solidFill>
                <a:schemeClr val="dk1"/>
              </a:solidFill>
              <a:latin typeface="Arimo"/>
              <a:ea typeface="Arimo"/>
              <a:cs typeface="Arimo"/>
              <a:sym typeface="Arimo"/>
            </a:endParaRPr>
          </a:p>
        </p:txBody>
      </p:sp>
      <p:pic>
        <p:nvPicPr>
          <p:cNvPr id="440" name="Google Shape;440;p61"/>
          <p:cNvPicPr preferRelativeResize="0"/>
          <p:nvPr/>
        </p:nvPicPr>
        <p:blipFill rotWithShape="1">
          <a:blip r:embed="rId3">
            <a:alphaModFix amt="10000"/>
          </a:blip>
          <a:srcRect b="14553" l="1069" r="50141" t="20939"/>
          <a:stretch/>
        </p:blipFill>
        <p:spPr>
          <a:xfrm>
            <a:off x="340238" y="1982700"/>
            <a:ext cx="8127300" cy="2532600"/>
          </a:xfrm>
          <a:prstGeom prst="roundRect">
            <a:avLst>
              <a:gd fmla="val 10347" name="adj"/>
            </a:avLst>
          </a:prstGeom>
          <a:noFill/>
          <a:ln>
            <a:noFill/>
          </a:ln>
        </p:spPr>
      </p:pic>
      <p:sp>
        <p:nvSpPr>
          <p:cNvPr id="441" name="Google Shape;441;p61"/>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442" name="Google Shape;442;p61"/>
          <p:cNvSpPr txBox="1"/>
          <p:nvPr>
            <p:ph idx="2"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DS 2002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Demand Surge Identification</a:t>
            </a:r>
            <a:endParaRPr/>
          </a:p>
        </p:txBody>
      </p:sp>
      <p:pic>
        <p:nvPicPr>
          <p:cNvPr id="448" name="Google Shape;448;p62"/>
          <p:cNvPicPr preferRelativeResize="0"/>
          <p:nvPr/>
        </p:nvPicPr>
        <p:blipFill rotWithShape="1">
          <a:blip r:embed="rId3">
            <a:alphaModFix amt="10000"/>
          </a:blip>
          <a:srcRect b="14553" l="1069" r="50141" t="20939"/>
          <a:stretch/>
        </p:blipFill>
        <p:spPr>
          <a:xfrm>
            <a:off x="146550" y="1250550"/>
            <a:ext cx="3186900" cy="3021900"/>
          </a:xfrm>
          <a:prstGeom prst="roundRect">
            <a:avLst>
              <a:gd fmla="val 10347" name="adj"/>
            </a:avLst>
          </a:prstGeom>
          <a:noFill/>
          <a:ln>
            <a:noFill/>
          </a:ln>
        </p:spPr>
      </p:pic>
      <p:sp>
        <p:nvSpPr>
          <p:cNvPr id="449" name="Google Shape;449;p62"/>
          <p:cNvSpPr txBox="1"/>
          <p:nvPr/>
        </p:nvSpPr>
        <p:spPr>
          <a:xfrm>
            <a:off x="337200" y="1361300"/>
            <a:ext cx="2805600" cy="26904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Arimo"/>
              <a:buChar char="-"/>
            </a:pPr>
            <a:r>
              <a:rPr lang="en" sz="1900">
                <a:solidFill>
                  <a:schemeClr val="dk1"/>
                </a:solidFill>
                <a:latin typeface="Arimo"/>
                <a:ea typeface="Arimo"/>
                <a:cs typeface="Arimo"/>
                <a:sym typeface="Arimo"/>
              </a:rPr>
              <a:t>Baseline: ~70 sessions per day</a:t>
            </a:r>
            <a:endParaRPr sz="1900">
              <a:solidFill>
                <a:schemeClr val="dk1"/>
              </a:solidFill>
              <a:latin typeface="Arimo"/>
              <a:ea typeface="Arimo"/>
              <a:cs typeface="Arimo"/>
              <a:sym typeface="Arimo"/>
            </a:endParaRPr>
          </a:p>
          <a:p>
            <a:pPr indent="-349250" lvl="0" marL="457200" rtl="0" algn="l">
              <a:spcBef>
                <a:spcPts val="0"/>
              </a:spcBef>
              <a:spcAft>
                <a:spcPts val="0"/>
              </a:spcAft>
              <a:buClr>
                <a:schemeClr val="dk1"/>
              </a:buClr>
              <a:buSzPts val="1900"/>
              <a:buFont typeface="Arimo"/>
              <a:buChar char="-"/>
            </a:pPr>
            <a:r>
              <a:rPr lang="en" sz="1900">
                <a:solidFill>
                  <a:schemeClr val="dk1"/>
                </a:solidFill>
                <a:latin typeface="Arimo"/>
                <a:ea typeface="Arimo"/>
                <a:cs typeface="Arimo"/>
                <a:sym typeface="Arimo"/>
              </a:rPr>
              <a:t>Peak demand occurs in late July–August (~170–180 sessions)</a:t>
            </a:r>
            <a:endParaRPr sz="1900">
              <a:solidFill>
                <a:schemeClr val="dk1"/>
              </a:solidFill>
              <a:latin typeface="Arimo"/>
              <a:ea typeface="Arimo"/>
              <a:cs typeface="Arimo"/>
              <a:sym typeface="Arimo"/>
            </a:endParaRPr>
          </a:p>
          <a:p>
            <a:pPr indent="-349250" lvl="0" marL="457200" rtl="0" algn="l">
              <a:spcBef>
                <a:spcPts val="0"/>
              </a:spcBef>
              <a:spcAft>
                <a:spcPts val="0"/>
              </a:spcAft>
              <a:buClr>
                <a:schemeClr val="dk1"/>
              </a:buClr>
              <a:buSzPts val="1900"/>
              <a:buFont typeface="Arimo"/>
              <a:buChar char="-"/>
            </a:pPr>
            <a:r>
              <a:rPr lang="en" sz="1900">
                <a:solidFill>
                  <a:schemeClr val="dk1"/>
                </a:solidFill>
                <a:latin typeface="Arimo"/>
                <a:ea typeface="Arimo"/>
                <a:cs typeface="Arimo"/>
                <a:sym typeface="Arimo"/>
              </a:rPr>
              <a:t>Repeated spikes in fall (Sep–Dec)</a:t>
            </a:r>
            <a:endParaRPr sz="19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pic>
        <p:nvPicPr>
          <p:cNvPr id="450" name="Google Shape;450;p62" title="cahrge.png"/>
          <p:cNvPicPr preferRelativeResize="0"/>
          <p:nvPr/>
        </p:nvPicPr>
        <p:blipFill>
          <a:blip r:embed="rId4">
            <a:alphaModFix/>
          </a:blip>
          <a:stretch>
            <a:fillRect/>
          </a:stretch>
        </p:blipFill>
        <p:spPr>
          <a:xfrm>
            <a:off x="4233850" y="1027200"/>
            <a:ext cx="4145802" cy="3537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63"/>
          <p:cNvPicPr preferRelativeResize="0"/>
          <p:nvPr/>
        </p:nvPicPr>
        <p:blipFill>
          <a:blip r:embed="rId4">
            <a:alphaModFix/>
          </a:blip>
          <a:stretch>
            <a:fillRect/>
          </a:stretch>
        </p:blipFill>
        <p:spPr>
          <a:xfrm>
            <a:off x="3499800" y="1562647"/>
            <a:ext cx="5469200" cy="2709716"/>
          </a:xfrm>
          <a:prstGeom prst="rect">
            <a:avLst/>
          </a:prstGeom>
          <a:noFill/>
          <a:ln>
            <a:noFill/>
          </a:ln>
        </p:spPr>
      </p:pic>
      <p:sp>
        <p:nvSpPr>
          <p:cNvPr id="456" name="Google Shape;456;p63"/>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Vehicle Consolidation Problem</a:t>
            </a:r>
            <a:endParaRPr/>
          </a:p>
        </p:txBody>
      </p:sp>
      <p:sp>
        <p:nvSpPr>
          <p:cNvPr id="457" name="Google Shape;457;p63"/>
          <p:cNvSpPr txBox="1"/>
          <p:nvPr/>
        </p:nvSpPr>
        <p:spPr>
          <a:xfrm>
            <a:off x="0" y="1301250"/>
            <a:ext cx="3333300" cy="28938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Some vehicles are split across multiple IDs</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“Fragmented” = only highest single ID count</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“Consolidated” = total across all IDs</a:t>
            </a:r>
            <a:endParaRPr sz="2200">
              <a:solidFill>
                <a:schemeClr val="dk1"/>
              </a:solidFill>
              <a:latin typeface="Arimo"/>
              <a:ea typeface="Arimo"/>
              <a:cs typeface="Arimo"/>
              <a:sym typeface="Arimo"/>
            </a:endParaRPr>
          </a:p>
        </p:txBody>
      </p:sp>
      <p:sp>
        <p:nvSpPr>
          <p:cNvPr id="458" name="Google Shape;458;p63"/>
          <p:cNvSpPr txBox="1"/>
          <p:nvPr/>
        </p:nvSpPr>
        <p:spPr>
          <a:xfrm>
            <a:off x="3499800" y="4408075"/>
            <a:ext cx="5366700" cy="45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Differences between fragmented and consolidated counts show that raw data underestimates charging demand for each vehicle. </a:t>
            </a:r>
            <a:endParaRPr sz="1200">
              <a:solidFill>
                <a:schemeClr val="dk1"/>
              </a:solidFill>
              <a:latin typeface="Arimo"/>
              <a:ea typeface="Arimo"/>
              <a:cs typeface="Arimo"/>
              <a:sym typeface="Arimo"/>
            </a:endParaRPr>
          </a:p>
        </p:txBody>
      </p:sp>
      <p:pic>
        <p:nvPicPr>
          <p:cNvPr id="459" name="Google Shape;459;p63"/>
          <p:cNvPicPr preferRelativeResize="0"/>
          <p:nvPr/>
        </p:nvPicPr>
        <p:blipFill rotWithShape="1">
          <a:blip r:embed="rId5">
            <a:alphaModFix amt="10000"/>
          </a:blip>
          <a:srcRect b="14553" l="1069" r="50141" t="20939"/>
          <a:stretch/>
        </p:blipFill>
        <p:spPr>
          <a:xfrm>
            <a:off x="146550" y="1250550"/>
            <a:ext cx="3186900" cy="3021900"/>
          </a:xfrm>
          <a:prstGeom prst="roundRect">
            <a:avLst>
              <a:gd fmla="val 10347" name="adj"/>
            </a:avLst>
          </a:prstGeom>
          <a:noFill/>
          <a:ln>
            <a:noFill/>
          </a:ln>
        </p:spPr>
      </p:pic>
      <p:sp>
        <p:nvSpPr>
          <p:cNvPr id="460" name="Google Shape;460;p63"/>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461" name="Google Shape;461;p63"/>
          <p:cNvSpPr txBox="1"/>
          <p:nvPr>
            <p:ph idx="2"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DS 2002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4"/>
          <p:cNvSpPr txBox="1"/>
          <p:nvPr>
            <p:ph type="title"/>
          </p:nvPr>
        </p:nvSpPr>
        <p:spPr>
          <a:xfrm>
            <a:off x="277500" y="399625"/>
            <a:ext cx="8589000" cy="885000"/>
          </a:xfrm>
          <a:prstGeom prst="rect">
            <a:avLst/>
          </a:prstGeom>
        </p:spPr>
        <p:txBody>
          <a:bodyPr anchorCtr="0" anchor="t" bIns="0" lIns="0" spcFirstLastPara="1" rIns="0" wrap="square" tIns="91425">
            <a:noAutofit/>
          </a:bodyPr>
          <a:lstStyle/>
          <a:p>
            <a:pPr indent="0" lvl="0" marL="0" rtl="0" algn="ctr">
              <a:spcBef>
                <a:spcPts val="0"/>
              </a:spcBef>
              <a:spcAft>
                <a:spcPts val="0"/>
              </a:spcAft>
              <a:buNone/>
            </a:pPr>
            <a:r>
              <a:rPr lang="en"/>
              <a:t>Impact of Consolidation </a:t>
            </a:r>
            <a:endParaRPr/>
          </a:p>
          <a:p>
            <a:pPr indent="0" lvl="0" marL="0" rtl="0" algn="ctr">
              <a:spcBef>
                <a:spcPts val="0"/>
              </a:spcBef>
              <a:spcAft>
                <a:spcPts val="0"/>
              </a:spcAft>
              <a:buNone/>
            </a:pPr>
            <a:r>
              <a:rPr lang="en"/>
              <a:t>What the data shows</a:t>
            </a:r>
            <a:endParaRPr/>
          </a:p>
        </p:txBody>
      </p:sp>
      <p:sp>
        <p:nvSpPr>
          <p:cNvPr id="467" name="Google Shape;467;p64"/>
          <p:cNvSpPr txBox="1"/>
          <p:nvPr/>
        </p:nvSpPr>
        <p:spPr>
          <a:xfrm>
            <a:off x="277500" y="1752675"/>
            <a:ext cx="8589000" cy="22164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Consolidated counts are significantly higher for every vehicle</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Data cleaning directly changes conclusions </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Each vehicle is undercounted when IDs are split</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Important for accurate demand planning </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Differences are around ~300-500 sessions per vehicle</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Raw data would underestimate true </a:t>
            </a:r>
            <a:r>
              <a:rPr lang="en" sz="2200">
                <a:solidFill>
                  <a:schemeClr val="dk1"/>
                </a:solidFill>
                <a:latin typeface="Arimo"/>
                <a:ea typeface="Arimo"/>
                <a:cs typeface="Arimo"/>
                <a:sym typeface="Arimo"/>
              </a:rPr>
              <a:t>demand</a:t>
            </a:r>
            <a:r>
              <a:rPr lang="en" sz="2200">
                <a:solidFill>
                  <a:schemeClr val="dk1"/>
                </a:solidFill>
                <a:latin typeface="Arimo"/>
                <a:ea typeface="Arimo"/>
                <a:cs typeface="Arimo"/>
                <a:sym typeface="Arimo"/>
              </a:rPr>
              <a:t> </a:t>
            </a:r>
            <a:endParaRPr sz="2200">
              <a:solidFill>
                <a:schemeClr val="dk1"/>
              </a:solidFill>
              <a:latin typeface="Arimo"/>
              <a:ea typeface="Arimo"/>
              <a:cs typeface="Arimo"/>
              <a:sym typeface="Arimo"/>
            </a:endParaRPr>
          </a:p>
        </p:txBody>
      </p:sp>
      <p:pic>
        <p:nvPicPr>
          <p:cNvPr id="468" name="Google Shape;468;p64"/>
          <p:cNvPicPr preferRelativeResize="0"/>
          <p:nvPr/>
        </p:nvPicPr>
        <p:blipFill rotWithShape="1">
          <a:blip r:embed="rId3">
            <a:alphaModFix amt="10000"/>
          </a:blip>
          <a:srcRect b="14553" l="1069" r="50141" t="20939"/>
          <a:stretch/>
        </p:blipFill>
        <p:spPr>
          <a:xfrm>
            <a:off x="335700" y="1752675"/>
            <a:ext cx="8187900" cy="2322000"/>
          </a:xfrm>
          <a:prstGeom prst="roundRect">
            <a:avLst>
              <a:gd fmla="val 10347" name="adj"/>
            </a:avLst>
          </a:prstGeom>
          <a:noFill/>
          <a:ln>
            <a:noFill/>
          </a:ln>
        </p:spPr>
      </p:pic>
      <p:sp>
        <p:nvSpPr>
          <p:cNvPr id="469" name="Google Shape;469;p6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470" name="Google Shape;470;p64"/>
          <p:cNvSpPr txBox="1"/>
          <p:nvPr>
            <p:ph idx="2"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DS 2002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5"/>
          <p:cNvSpPr txBox="1"/>
          <p:nvPr>
            <p:ph type="title"/>
          </p:nvPr>
        </p:nvSpPr>
        <p:spPr>
          <a:xfrm>
            <a:off x="61818" y="503275"/>
            <a:ext cx="4835400" cy="733800"/>
          </a:xfrm>
          <a:prstGeom prst="rect">
            <a:avLst/>
          </a:prstGeom>
        </p:spPr>
        <p:txBody>
          <a:bodyPr anchorCtr="0" anchor="t" bIns="0" lIns="0" spcFirstLastPara="1" rIns="0" wrap="square" tIns="91425">
            <a:noAutofit/>
          </a:bodyPr>
          <a:lstStyle/>
          <a:p>
            <a:pPr indent="0" lvl="0" marL="0" rtl="0" algn="ctr">
              <a:spcBef>
                <a:spcPts val="0"/>
              </a:spcBef>
              <a:spcAft>
                <a:spcPts val="0"/>
              </a:spcAft>
              <a:buNone/>
            </a:pPr>
            <a:r>
              <a:rPr lang="en"/>
              <a:t>Weather and Charging Demand </a:t>
            </a:r>
            <a:endParaRPr/>
          </a:p>
        </p:txBody>
      </p:sp>
      <p:pic>
        <p:nvPicPr>
          <p:cNvPr id="476" name="Google Shape;476;p65"/>
          <p:cNvPicPr preferRelativeResize="0"/>
          <p:nvPr/>
        </p:nvPicPr>
        <p:blipFill>
          <a:blip r:embed="rId3">
            <a:alphaModFix/>
          </a:blip>
          <a:stretch>
            <a:fillRect/>
          </a:stretch>
        </p:blipFill>
        <p:spPr>
          <a:xfrm>
            <a:off x="5101900" y="0"/>
            <a:ext cx="4042100" cy="2510302"/>
          </a:xfrm>
          <a:prstGeom prst="rect">
            <a:avLst/>
          </a:prstGeom>
          <a:noFill/>
          <a:ln>
            <a:noFill/>
          </a:ln>
        </p:spPr>
      </p:pic>
      <p:pic>
        <p:nvPicPr>
          <p:cNvPr id="477" name="Google Shape;477;p65"/>
          <p:cNvPicPr preferRelativeResize="0"/>
          <p:nvPr/>
        </p:nvPicPr>
        <p:blipFill>
          <a:blip r:embed="rId4">
            <a:alphaModFix/>
          </a:blip>
          <a:stretch>
            <a:fillRect/>
          </a:stretch>
        </p:blipFill>
        <p:spPr>
          <a:xfrm>
            <a:off x="0" y="2437575"/>
            <a:ext cx="4959025" cy="2705925"/>
          </a:xfrm>
          <a:prstGeom prst="rect">
            <a:avLst/>
          </a:prstGeom>
          <a:noFill/>
          <a:ln>
            <a:noFill/>
          </a:ln>
        </p:spPr>
      </p:pic>
      <p:sp>
        <p:nvSpPr>
          <p:cNvPr id="478" name="Google Shape;478;p65"/>
          <p:cNvSpPr txBox="1"/>
          <p:nvPr/>
        </p:nvSpPr>
        <p:spPr>
          <a:xfrm>
            <a:off x="5184950" y="2535338"/>
            <a:ext cx="3876000" cy="251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Average Grid Load by Month </a:t>
            </a:r>
            <a:endParaRPr sz="1200">
              <a:solidFill>
                <a:schemeClr val="dk1"/>
              </a:solidFill>
              <a:latin typeface="Arimo"/>
              <a:ea typeface="Arimo"/>
              <a:cs typeface="Arimo"/>
              <a:sym typeface="Arimo"/>
            </a:endParaRPr>
          </a:p>
          <a:p>
            <a:pPr indent="0" lvl="0" marL="0" rtl="0" algn="ctr">
              <a:spcBef>
                <a:spcPts val="0"/>
              </a:spcBef>
              <a:spcAft>
                <a:spcPts val="0"/>
              </a:spcAft>
              <a:buClr>
                <a:schemeClr val="lt1"/>
              </a:buClr>
              <a:buSzPts val="1100"/>
              <a:buFont typeface="Arial"/>
              <a:buNone/>
            </a:pPr>
            <a:r>
              <a:t/>
            </a:r>
            <a:endParaRPr sz="1200">
              <a:solidFill>
                <a:schemeClr val="dk1"/>
              </a:solidFill>
              <a:latin typeface="Arimo"/>
              <a:ea typeface="Arimo"/>
              <a:cs typeface="Arimo"/>
              <a:sym typeface="Arim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Weak relationship between temperature and charging </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Grid load varies strongly by month </a:t>
            </a:r>
            <a:endParaRPr sz="2200">
              <a:solidFill>
                <a:schemeClr val="dk1"/>
              </a:solidFill>
              <a:latin typeface="Arimo"/>
              <a:ea typeface="Arimo"/>
              <a:cs typeface="Arimo"/>
              <a:sym typeface="Arimo"/>
            </a:endParaRPr>
          </a:p>
        </p:txBody>
      </p:sp>
      <p:sp>
        <p:nvSpPr>
          <p:cNvPr id="479" name="Google Shape;479;p65"/>
          <p:cNvSpPr txBox="1"/>
          <p:nvPr/>
        </p:nvSpPr>
        <p:spPr>
          <a:xfrm>
            <a:off x="914263" y="2023575"/>
            <a:ext cx="3130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200">
                <a:solidFill>
                  <a:schemeClr val="dk1"/>
                </a:solidFill>
                <a:latin typeface="Arimo"/>
                <a:ea typeface="Arimo"/>
                <a:cs typeface="Arimo"/>
                <a:sym typeface="Arimo"/>
              </a:rPr>
              <a:t>T</a:t>
            </a:r>
            <a:r>
              <a:rPr lang="en" sz="1200">
                <a:solidFill>
                  <a:schemeClr val="dk1"/>
                </a:solidFill>
                <a:latin typeface="Arimo"/>
                <a:ea typeface="Arimo"/>
                <a:cs typeface="Arimo"/>
                <a:sym typeface="Arimo"/>
              </a:rPr>
              <a:t>emperature vs. Daily Charging Sessions</a:t>
            </a:r>
            <a:endParaRPr sz="1200">
              <a:solidFill>
                <a:schemeClr val="dk1"/>
              </a:solidFill>
              <a:latin typeface="Arimo"/>
              <a:ea typeface="Arimo"/>
              <a:cs typeface="Arimo"/>
              <a:sym typeface="Arimo"/>
            </a:endParaRPr>
          </a:p>
        </p:txBody>
      </p:sp>
      <p:pic>
        <p:nvPicPr>
          <p:cNvPr id="480" name="Google Shape;480;p65"/>
          <p:cNvPicPr preferRelativeResize="0"/>
          <p:nvPr/>
        </p:nvPicPr>
        <p:blipFill rotWithShape="1">
          <a:blip r:embed="rId5">
            <a:alphaModFix amt="10000"/>
          </a:blip>
          <a:srcRect b="14553" l="1069" r="50141" t="20939"/>
          <a:stretch/>
        </p:blipFill>
        <p:spPr>
          <a:xfrm>
            <a:off x="5184950" y="3069025"/>
            <a:ext cx="3876000" cy="1867800"/>
          </a:xfrm>
          <a:prstGeom prst="roundRect">
            <a:avLst>
              <a:gd fmla="val 10347" name="adj"/>
            </a:avLst>
          </a:prstGeom>
          <a:noFill/>
          <a:ln>
            <a:noFill/>
          </a:ln>
        </p:spPr>
      </p:pic>
      <p:sp>
        <p:nvSpPr>
          <p:cNvPr id="481" name="Google Shape;481;p65"/>
          <p:cNvSpPr txBox="1"/>
          <p:nvPr>
            <p:ph idx="2" type="subTitle"/>
          </p:nvPr>
        </p:nvSpPr>
        <p:spPr>
          <a:xfrm>
            <a:off x="3328825"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482" name="Google Shape;482;p65"/>
          <p:cNvSpPr txBox="1"/>
          <p:nvPr>
            <p:ph idx="2"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DS 2002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type="title"/>
          </p:nvPr>
        </p:nvSpPr>
        <p:spPr>
          <a:xfrm>
            <a:off x="277500" y="512175"/>
            <a:ext cx="8589000" cy="885000"/>
          </a:xfrm>
          <a:prstGeom prst="rect">
            <a:avLst/>
          </a:prstGeom>
        </p:spPr>
        <p:txBody>
          <a:bodyPr anchorCtr="0" anchor="t" bIns="0" lIns="0" spcFirstLastPara="1" rIns="0" wrap="square" tIns="91425">
            <a:noAutofit/>
          </a:bodyPr>
          <a:lstStyle/>
          <a:p>
            <a:pPr indent="0" lvl="0" marL="0" rtl="0" algn="ctr">
              <a:spcBef>
                <a:spcPts val="0"/>
              </a:spcBef>
              <a:spcAft>
                <a:spcPts val="0"/>
              </a:spcAft>
              <a:buNone/>
            </a:pPr>
            <a:r>
              <a:rPr lang="en"/>
              <a:t>Key Findings From Weather and Charging Demand</a:t>
            </a:r>
            <a:endParaRPr/>
          </a:p>
        </p:txBody>
      </p:sp>
      <p:sp>
        <p:nvSpPr>
          <p:cNvPr id="488" name="Google Shape;488;p66"/>
          <p:cNvSpPr txBox="1"/>
          <p:nvPr/>
        </p:nvSpPr>
        <p:spPr>
          <a:xfrm>
            <a:off x="277500" y="1807100"/>
            <a:ext cx="8589000" cy="15393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Temperature does not strongly predict charging demand</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Charging levels stay fairly consistent across temperatures</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Grid load peaks in summer (June - August)</a:t>
            </a:r>
            <a:endParaRPr sz="2200">
              <a:solidFill>
                <a:schemeClr val="dk1"/>
              </a:solidFill>
              <a:latin typeface="Arimo"/>
              <a:ea typeface="Arimo"/>
              <a:cs typeface="Arimo"/>
              <a:sym typeface="Arimo"/>
            </a:endParaRPr>
          </a:p>
          <a:p>
            <a:pPr indent="-368300" lvl="0" marL="457200" rtl="0" algn="l">
              <a:spcBef>
                <a:spcPts val="0"/>
              </a:spcBef>
              <a:spcAft>
                <a:spcPts val="0"/>
              </a:spcAft>
              <a:buClr>
                <a:schemeClr val="dk1"/>
              </a:buClr>
              <a:buSzPts val="2200"/>
              <a:buFont typeface="Arimo"/>
              <a:buChar char="-"/>
            </a:pPr>
            <a:r>
              <a:rPr lang="en" sz="2200">
                <a:solidFill>
                  <a:schemeClr val="dk1"/>
                </a:solidFill>
                <a:latin typeface="Arimo"/>
                <a:ea typeface="Arimo"/>
                <a:cs typeface="Arimo"/>
                <a:sym typeface="Arimo"/>
              </a:rPr>
              <a:t>Seasonal demand has a larger impact than daily temperature </a:t>
            </a:r>
            <a:endParaRPr sz="2200">
              <a:solidFill>
                <a:schemeClr val="dk1"/>
              </a:solidFill>
              <a:latin typeface="Arimo"/>
              <a:ea typeface="Arimo"/>
              <a:cs typeface="Arimo"/>
              <a:sym typeface="Arimo"/>
            </a:endParaRPr>
          </a:p>
        </p:txBody>
      </p:sp>
      <p:pic>
        <p:nvPicPr>
          <p:cNvPr id="489" name="Google Shape;489;p66"/>
          <p:cNvPicPr preferRelativeResize="0"/>
          <p:nvPr/>
        </p:nvPicPr>
        <p:blipFill rotWithShape="1">
          <a:blip r:embed="rId3">
            <a:alphaModFix amt="10000"/>
          </a:blip>
          <a:srcRect b="14553" l="1069" r="50141" t="20939"/>
          <a:stretch/>
        </p:blipFill>
        <p:spPr>
          <a:xfrm>
            <a:off x="277500" y="1694250"/>
            <a:ext cx="8221800" cy="1755000"/>
          </a:xfrm>
          <a:prstGeom prst="roundRect">
            <a:avLst>
              <a:gd fmla="val 10347" name="adj"/>
            </a:avLst>
          </a:prstGeom>
          <a:noFill/>
          <a:ln>
            <a:noFill/>
          </a:ln>
        </p:spPr>
      </p:pic>
      <p:sp>
        <p:nvSpPr>
          <p:cNvPr id="490" name="Google Shape;490;p6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491" name="Google Shape;491;p66"/>
          <p:cNvSpPr txBox="1"/>
          <p:nvPr>
            <p:ph idx="2"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DS 2002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67"/>
          <p:cNvPicPr preferRelativeResize="0"/>
          <p:nvPr/>
        </p:nvPicPr>
        <p:blipFill rotWithShape="1">
          <a:blip r:embed="rId3">
            <a:alphaModFix amt="10000"/>
          </a:blip>
          <a:srcRect b="14553" l="1069" r="50141" t="20939"/>
          <a:stretch/>
        </p:blipFill>
        <p:spPr>
          <a:xfrm>
            <a:off x="274125" y="1863575"/>
            <a:ext cx="4236300" cy="2995200"/>
          </a:xfrm>
          <a:prstGeom prst="roundRect">
            <a:avLst>
              <a:gd fmla="val 10347" name="adj"/>
            </a:avLst>
          </a:prstGeom>
          <a:noFill/>
          <a:ln>
            <a:noFill/>
          </a:ln>
        </p:spPr>
      </p:pic>
      <p:pic>
        <p:nvPicPr>
          <p:cNvPr id="497" name="Google Shape;497;p67"/>
          <p:cNvPicPr preferRelativeResize="0"/>
          <p:nvPr/>
        </p:nvPicPr>
        <p:blipFill rotWithShape="1">
          <a:blip r:embed="rId3">
            <a:alphaModFix amt="10000"/>
          </a:blip>
          <a:srcRect b="14553" l="1069" r="50141" t="20939"/>
          <a:stretch/>
        </p:blipFill>
        <p:spPr>
          <a:xfrm>
            <a:off x="4631050" y="1863575"/>
            <a:ext cx="4236300" cy="2995200"/>
          </a:xfrm>
          <a:prstGeom prst="roundRect">
            <a:avLst>
              <a:gd fmla="val 10347" name="adj"/>
            </a:avLst>
          </a:prstGeom>
          <a:noFill/>
          <a:ln>
            <a:noFill/>
          </a:ln>
        </p:spPr>
      </p:pic>
      <p:sp>
        <p:nvSpPr>
          <p:cNvPr id="498" name="Google Shape;498;p6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Connector Type Investigation</a:t>
            </a:r>
            <a:endParaRPr/>
          </a:p>
        </p:txBody>
      </p:sp>
      <p:sp>
        <p:nvSpPr>
          <p:cNvPr id="499" name="Google Shape;499;p6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DS 2002</a:t>
            </a:r>
            <a:endParaRPr/>
          </a:p>
        </p:txBody>
      </p:sp>
      <p:sp>
        <p:nvSpPr>
          <p:cNvPr id="500" name="Google Shape;500;p6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501" name="Google Shape;501;p6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02" name="Google Shape;502;p67"/>
          <p:cNvSpPr txBox="1"/>
          <p:nvPr>
            <p:ph idx="6" type="subTitle"/>
          </p:nvPr>
        </p:nvSpPr>
        <p:spPr>
          <a:xfrm>
            <a:off x="1754049" y="1410063"/>
            <a:ext cx="1276500" cy="3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CHAdeMO </a:t>
            </a:r>
            <a:endParaRPr/>
          </a:p>
        </p:txBody>
      </p:sp>
      <p:pic>
        <p:nvPicPr>
          <p:cNvPr id="503" name="Google Shape;503;p67"/>
          <p:cNvPicPr preferRelativeResize="0"/>
          <p:nvPr/>
        </p:nvPicPr>
        <p:blipFill rotWithShape="1">
          <a:blip r:embed="rId4">
            <a:alphaModFix/>
          </a:blip>
          <a:srcRect b="0" l="0" r="50095" t="6629"/>
          <a:stretch/>
        </p:blipFill>
        <p:spPr>
          <a:xfrm>
            <a:off x="725913" y="2024825"/>
            <a:ext cx="3332725" cy="2595775"/>
          </a:xfrm>
          <a:prstGeom prst="rect">
            <a:avLst/>
          </a:prstGeom>
          <a:noFill/>
          <a:ln>
            <a:noFill/>
          </a:ln>
        </p:spPr>
      </p:pic>
      <p:pic>
        <p:nvPicPr>
          <p:cNvPr id="504" name="Google Shape;504;p67"/>
          <p:cNvPicPr preferRelativeResize="0"/>
          <p:nvPr/>
        </p:nvPicPr>
        <p:blipFill rotWithShape="1">
          <a:blip r:embed="rId3">
            <a:alphaModFix amt="10000"/>
          </a:blip>
          <a:srcRect b="14553" l="1069" r="50141" t="20939"/>
          <a:stretch/>
        </p:blipFill>
        <p:spPr>
          <a:xfrm>
            <a:off x="1531438" y="1349612"/>
            <a:ext cx="1721700" cy="465600"/>
          </a:xfrm>
          <a:prstGeom prst="roundRect">
            <a:avLst>
              <a:gd fmla="val 10347" name="adj"/>
            </a:avLst>
          </a:prstGeom>
          <a:noFill/>
          <a:ln>
            <a:noFill/>
          </a:ln>
        </p:spPr>
      </p:pic>
      <p:pic>
        <p:nvPicPr>
          <p:cNvPr id="505" name="Google Shape;505;p67"/>
          <p:cNvPicPr preferRelativeResize="0"/>
          <p:nvPr/>
        </p:nvPicPr>
        <p:blipFill rotWithShape="1">
          <a:blip r:embed="rId4">
            <a:alphaModFix/>
          </a:blip>
          <a:srcRect b="0" l="50431" r="0" t="8617"/>
          <a:stretch/>
        </p:blipFill>
        <p:spPr>
          <a:xfrm>
            <a:off x="5058133" y="2024825"/>
            <a:ext cx="3382131" cy="2595775"/>
          </a:xfrm>
          <a:prstGeom prst="rect">
            <a:avLst/>
          </a:prstGeom>
          <a:noFill/>
          <a:ln>
            <a:noFill/>
          </a:ln>
        </p:spPr>
      </p:pic>
      <p:sp>
        <p:nvSpPr>
          <p:cNvPr id="506" name="Google Shape;506;p67"/>
          <p:cNvSpPr txBox="1"/>
          <p:nvPr>
            <p:ph idx="6" type="subTitle"/>
          </p:nvPr>
        </p:nvSpPr>
        <p:spPr>
          <a:xfrm>
            <a:off x="6459099" y="1410063"/>
            <a:ext cx="580200" cy="3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CCS</a:t>
            </a:r>
            <a:endParaRPr/>
          </a:p>
        </p:txBody>
      </p:sp>
      <p:pic>
        <p:nvPicPr>
          <p:cNvPr id="507" name="Google Shape;507;p67"/>
          <p:cNvPicPr preferRelativeResize="0"/>
          <p:nvPr/>
        </p:nvPicPr>
        <p:blipFill rotWithShape="1">
          <a:blip r:embed="rId3">
            <a:alphaModFix amt="10000"/>
          </a:blip>
          <a:srcRect b="14553" l="1069" r="50141" t="20939"/>
          <a:stretch/>
        </p:blipFill>
        <p:spPr>
          <a:xfrm>
            <a:off x="6289594" y="1349600"/>
            <a:ext cx="919200" cy="465600"/>
          </a:xfrm>
          <a:prstGeom prst="roundRect">
            <a:avLst>
              <a:gd fmla="val 1034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p68"/>
          <p:cNvPicPr preferRelativeResize="0"/>
          <p:nvPr/>
        </p:nvPicPr>
        <p:blipFill rotWithShape="1">
          <a:blip r:embed="rId3">
            <a:alphaModFix amt="10000"/>
          </a:blip>
          <a:srcRect b="14553" l="1069" r="50141" t="20939"/>
          <a:stretch/>
        </p:blipFill>
        <p:spPr>
          <a:xfrm>
            <a:off x="274125" y="1863575"/>
            <a:ext cx="4236300" cy="2995200"/>
          </a:xfrm>
          <a:prstGeom prst="roundRect">
            <a:avLst>
              <a:gd fmla="val 10347" name="adj"/>
            </a:avLst>
          </a:prstGeom>
          <a:noFill/>
          <a:ln>
            <a:noFill/>
          </a:ln>
        </p:spPr>
      </p:pic>
      <p:pic>
        <p:nvPicPr>
          <p:cNvPr id="513" name="Google Shape;513;p68"/>
          <p:cNvPicPr preferRelativeResize="0"/>
          <p:nvPr/>
        </p:nvPicPr>
        <p:blipFill rotWithShape="1">
          <a:blip r:embed="rId3">
            <a:alphaModFix amt="10000"/>
          </a:blip>
          <a:srcRect b="14553" l="1069" r="50141" t="20939"/>
          <a:stretch/>
        </p:blipFill>
        <p:spPr>
          <a:xfrm>
            <a:off x="4631050" y="1863575"/>
            <a:ext cx="4236300" cy="2995200"/>
          </a:xfrm>
          <a:prstGeom prst="roundRect">
            <a:avLst>
              <a:gd fmla="val 10347" name="adj"/>
            </a:avLst>
          </a:prstGeom>
          <a:noFill/>
          <a:ln>
            <a:noFill/>
          </a:ln>
        </p:spPr>
      </p:pic>
      <p:sp>
        <p:nvSpPr>
          <p:cNvPr id="514" name="Google Shape;514;p6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Connector Type Investigation</a:t>
            </a:r>
            <a:endParaRPr/>
          </a:p>
        </p:txBody>
      </p:sp>
      <p:sp>
        <p:nvSpPr>
          <p:cNvPr id="515" name="Google Shape;515;p6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DS 2002</a:t>
            </a:r>
            <a:endParaRPr/>
          </a:p>
        </p:txBody>
      </p:sp>
      <p:sp>
        <p:nvSpPr>
          <p:cNvPr id="516" name="Google Shape;516;p6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4/30/2026</a:t>
            </a:r>
            <a:endParaRPr/>
          </a:p>
        </p:txBody>
      </p:sp>
      <p:sp>
        <p:nvSpPr>
          <p:cNvPr id="517" name="Google Shape;517;p6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18" name="Google Shape;518;p68"/>
          <p:cNvSpPr txBox="1"/>
          <p:nvPr>
            <p:ph idx="6" type="subTitle"/>
          </p:nvPr>
        </p:nvSpPr>
        <p:spPr>
          <a:xfrm>
            <a:off x="1856775" y="1410063"/>
            <a:ext cx="1071000" cy="3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Evidence</a:t>
            </a:r>
            <a:endParaRPr/>
          </a:p>
        </p:txBody>
      </p:sp>
      <p:pic>
        <p:nvPicPr>
          <p:cNvPr id="519" name="Google Shape;519;p68"/>
          <p:cNvPicPr preferRelativeResize="0"/>
          <p:nvPr/>
        </p:nvPicPr>
        <p:blipFill rotWithShape="1">
          <a:blip r:embed="rId3">
            <a:alphaModFix amt="10000"/>
          </a:blip>
          <a:srcRect b="14553" l="1069" r="50141" t="20939"/>
          <a:stretch/>
        </p:blipFill>
        <p:spPr>
          <a:xfrm>
            <a:off x="1531413" y="1349612"/>
            <a:ext cx="1721700" cy="465600"/>
          </a:xfrm>
          <a:prstGeom prst="roundRect">
            <a:avLst>
              <a:gd fmla="val 10347" name="adj"/>
            </a:avLst>
          </a:prstGeom>
          <a:noFill/>
          <a:ln>
            <a:noFill/>
          </a:ln>
        </p:spPr>
      </p:pic>
      <p:sp>
        <p:nvSpPr>
          <p:cNvPr id="520" name="Google Shape;520;p68"/>
          <p:cNvSpPr txBox="1"/>
          <p:nvPr>
            <p:ph idx="6" type="subTitle"/>
          </p:nvPr>
        </p:nvSpPr>
        <p:spPr>
          <a:xfrm>
            <a:off x="5717500" y="1410063"/>
            <a:ext cx="2063400" cy="34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Recommendation</a:t>
            </a:r>
            <a:r>
              <a:rPr lang="en"/>
              <a:t> </a:t>
            </a:r>
            <a:endParaRPr/>
          </a:p>
        </p:txBody>
      </p:sp>
      <p:pic>
        <p:nvPicPr>
          <p:cNvPr id="521" name="Google Shape;521;p68"/>
          <p:cNvPicPr preferRelativeResize="0"/>
          <p:nvPr/>
        </p:nvPicPr>
        <p:blipFill rotWithShape="1">
          <a:blip r:embed="rId3">
            <a:alphaModFix amt="10000"/>
          </a:blip>
          <a:srcRect b="14553" l="1069" r="50141" t="20939"/>
          <a:stretch/>
        </p:blipFill>
        <p:spPr>
          <a:xfrm>
            <a:off x="5362899" y="1349600"/>
            <a:ext cx="2772600" cy="465600"/>
          </a:xfrm>
          <a:prstGeom prst="roundRect">
            <a:avLst>
              <a:gd fmla="val 10347" name="adj"/>
            </a:avLst>
          </a:prstGeom>
          <a:noFill/>
          <a:ln>
            <a:noFill/>
          </a:ln>
        </p:spPr>
      </p:pic>
      <p:sp>
        <p:nvSpPr>
          <p:cNvPr id="522" name="Google Shape;522;p68"/>
          <p:cNvSpPr txBox="1"/>
          <p:nvPr/>
        </p:nvSpPr>
        <p:spPr>
          <a:xfrm>
            <a:off x="609300" y="2202450"/>
            <a:ext cx="36285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Arimo"/>
                <a:ea typeface="Arimo"/>
                <a:cs typeface="Arimo"/>
                <a:sym typeface="Arimo"/>
              </a:rPr>
              <a:t>Based on the actual trend data, CHAdeMO is not declining:</a:t>
            </a:r>
            <a:endParaRPr sz="1500">
              <a:solidFill>
                <a:schemeClr val="dk1"/>
              </a:solidFill>
              <a:latin typeface="Arimo"/>
              <a:ea typeface="Arimo"/>
              <a:cs typeface="Arimo"/>
              <a:sym typeface="Arimo"/>
            </a:endParaRPr>
          </a:p>
          <a:p>
            <a:pPr indent="-323850" lvl="0" marL="4572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CHAdeMO slope: +8.33 sessions/month</a:t>
            </a:r>
            <a:endParaRPr sz="1500">
              <a:solidFill>
                <a:schemeClr val="dk1"/>
              </a:solidFill>
              <a:latin typeface="Arimo"/>
              <a:ea typeface="Arimo"/>
              <a:cs typeface="Arimo"/>
              <a:sym typeface="Arimo"/>
            </a:endParaRPr>
          </a:p>
          <a:p>
            <a:pPr indent="-323850" lvl="1" marL="9144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A positive slope, suggesting growth.</a:t>
            </a:r>
            <a:endParaRPr sz="1500">
              <a:solidFill>
                <a:schemeClr val="dk1"/>
              </a:solidFill>
              <a:latin typeface="Arimo"/>
              <a:ea typeface="Arimo"/>
              <a:cs typeface="Arimo"/>
              <a:sym typeface="Arimo"/>
            </a:endParaRPr>
          </a:p>
          <a:p>
            <a:pPr indent="-323850" lvl="0" marL="4572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CCS slope: +8.94 sessions/month</a:t>
            </a:r>
            <a:endParaRPr sz="1500">
              <a:solidFill>
                <a:schemeClr val="dk1"/>
              </a:solidFill>
              <a:latin typeface="Arimo"/>
              <a:ea typeface="Arimo"/>
              <a:cs typeface="Arimo"/>
              <a:sym typeface="Arimo"/>
            </a:endParaRPr>
          </a:p>
          <a:p>
            <a:pPr indent="-323850" lvl="1" marL="9144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A positive slope, suggesting growth.</a:t>
            </a:r>
            <a:endParaRPr sz="1500">
              <a:solidFill>
                <a:schemeClr val="dk1"/>
              </a:solidFill>
              <a:latin typeface="Arimo"/>
              <a:ea typeface="Arimo"/>
              <a:cs typeface="Arimo"/>
              <a:sym typeface="Arimo"/>
            </a:endParaRPr>
          </a:p>
        </p:txBody>
      </p:sp>
      <p:sp>
        <p:nvSpPr>
          <p:cNvPr id="523" name="Google Shape;523;p68"/>
          <p:cNvSpPr txBox="1"/>
          <p:nvPr/>
        </p:nvSpPr>
        <p:spPr>
          <a:xfrm>
            <a:off x="4934950" y="2068175"/>
            <a:ext cx="36285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Arimo"/>
                <a:ea typeface="Arimo"/>
                <a:cs typeface="Arimo"/>
                <a:sym typeface="Arimo"/>
              </a:rPr>
              <a:t>Both connector types are growing at nearly identical rates. This means </a:t>
            </a:r>
            <a:r>
              <a:rPr b="1" lang="en" sz="1300">
                <a:solidFill>
                  <a:schemeClr val="dk1"/>
                </a:solidFill>
                <a:latin typeface="Arimo"/>
                <a:ea typeface="Arimo"/>
                <a:cs typeface="Arimo"/>
                <a:sym typeface="Arimo"/>
              </a:rPr>
              <a:t>the apparent CHAdeMO decline</a:t>
            </a:r>
            <a:r>
              <a:rPr lang="en" sz="1300">
                <a:solidFill>
                  <a:schemeClr val="dk1"/>
                </a:solidFill>
                <a:latin typeface="Arimo"/>
                <a:ea typeface="Arimo"/>
                <a:cs typeface="Arimo"/>
                <a:sym typeface="Arimo"/>
              </a:rPr>
              <a:t> suggested by the overall session counts is most likely </a:t>
            </a:r>
            <a:r>
              <a:rPr b="1" lang="en" sz="1300">
                <a:solidFill>
                  <a:schemeClr val="dk1"/>
                </a:solidFill>
                <a:latin typeface="Arimo"/>
                <a:ea typeface="Arimo"/>
                <a:cs typeface="Arimo"/>
                <a:sym typeface="Arimo"/>
              </a:rPr>
              <a:t>a data artifact</a:t>
            </a:r>
            <a:r>
              <a:rPr lang="en" sz="1300">
                <a:solidFill>
                  <a:schemeClr val="dk1"/>
                </a:solidFill>
                <a:latin typeface="Arimo"/>
                <a:ea typeface="Arimo"/>
                <a:cs typeface="Arimo"/>
                <a:sym typeface="Arimo"/>
              </a:rPr>
              <a:t>.</a:t>
            </a:r>
            <a:endParaRPr sz="1300">
              <a:solidFill>
                <a:schemeClr val="dk1"/>
              </a:solidFill>
              <a:latin typeface="Arimo"/>
              <a:ea typeface="Arimo"/>
              <a:cs typeface="Arimo"/>
              <a:sym typeface="Arimo"/>
            </a:endParaRPr>
          </a:p>
          <a:p>
            <a:pPr indent="0" lvl="0" marL="0" rtl="0" algn="l">
              <a:spcBef>
                <a:spcPts val="0"/>
              </a:spcBef>
              <a:spcAft>
                <a:spcPts val="0"/>
              </a:spcAft>
              <a:buNone/>
            </a:pPr>
            <a:r>
              <a:t/>
            </a:r>
            <a:endParaRPr sz="1300">
              <a:solidFill>
                <a:schemeClr val="dk1"/>
              </a:solidFill>
              <a:latin typeface="Arimo"/>
              <a:ea typeface="Arimo"/>
              <a:cs typeface="Arimo"/>
              <a:sym typeface="Arimo"/>
            </a:endParaRPr>
          </a:p>
          <a:p>
            <a:pPr indent="0" lvl="0" marL="0" rtl="0" algn="l">
              <a:spcBef>
                <a:spcPts val="0"/>
              </a:spcBef>
              <a:spcAft>
                <a:spcPts val="0"/>
              </a:spcAft>
              <a:buNone/>
            </a:pPr>
            <a:r>
              <a:rPr lang="en" sz="1300">
                <a:solidFill>
                  <a:schemeClr val="dk1"/>
                </a:solidFill>
                <a:latin typeface="Arimo"/>
                <a:ea typeface="Arimo"/>
                <a:cs typeface="Arimo"/>
                <a:sym typeface="Arimo"/>
              </a:rPr>
              <a:t>Based on this data, there is </a:t>
            </a:r>
            <a:r>
              <a:rPr b="1" lang="en" sz="1300">
                <a:solidFill>
                  <a:schemeClr val="dk1"/>
                </a:solidFill>
                <a:latin typeface="Arimo"/>
                <a:ea typeface="Arimo"/>
                <a:cs typeface="Arimo"/>
                <a:sym typeface="Arimo"/>
              </a:rPr>
              <a:t>no strong case to cut CHAdeMO funding</a:t>
            </a:r>
            <a:r>
              <a:rPr lang="en" sz="1300">
                <a:solidFill>
                  <a:schemeClr val="dk1"/>
                </a:solidFill>
                <a:latin typeface="Arimo"/>
                <a:ea typeface="Arimo"/>
                <a:cs typeface="Arimo"/>
                <a:sym typeface="Arimo"/>
              </a:rPr>
              <a:t>. A reasonable approach is to </a:t>
            </a:r>
            <a:r>
              <a:rPr b="1" lang="en" sz="1300">
                <a:solidFill>
                  <a:schemeClr val="dk1"/>
                </a:solidFill>
                <a:latin typeface="Arimo"/>
                <a:ea typeface="Arimo"/>
                <a:cs typeface="Arimo"/>
                <a:sym typeface="Arimo"/>
              </a:rPr>
              <a:t>maintain existing CHAdeMO ports</a:t>
            </a:r>
            <a:r>
              <a:rPr lang="en" sz="1300">
                <a:solidFill>
                  <a:schemeClr val="dk1"/>
                </a:solidFill>
                <a:latin typeface="Arimo"/>
                <a:ea typeface="Arimo"/>
                <a:cs typeface="Arimo"/>
                <a:sym typeface="Arimo"/>
              </a:rPr>
              <a:t> but direct any new infrastructure investment toward CCS, which has stronger long-term manufacturer support as newer EVs support CCS more.</a:t>
            </a:r>
            <a:endParaRPr sz="1300">
              <a:solidFill>
                <a:schemeClr val="dk1"/>
              </a:solidFill>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9"/>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